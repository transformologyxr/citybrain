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CityBrain Product Consolidation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Product, architecture, gaps, parked work, and component plug-in map</a:t>
            </a:r>
          </a:p>
        </p:txBody>
      </p:sp>
      <p:pic>
        <p:nvPicPr>
          <p:cNvPr id="4" name="Picture 3" descr="01_citybrain_produc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109728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The product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CityBrain is a governed review-only intelligence cockpit.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CityBrain is a governed review-only city intelligence cockpit that turns fragmented city records, events, media candidates and spatial context into evidence-backed human-review packets.</a:t>
            </a:r>
          </a:p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Current strength: trusted local/replay review packets, not autonomous operations.</a:t>
            </a:r>
          </a:p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rial"/>
              </a:defRPr>
            </a:pPr>
            <a:r>
              <a:t>The product unit is a packet: entity + graph + evidence + CHECK + authority + workflow state.</a:t>
            </a:r>
          </a:p>
        </p:txBody>
      </p:sp>
      <p:pic>
        <p:nvPicPr>
          <p:cNvPr id="5" name="Picture 4" descr="09_governance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943600" cy="2852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North-star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Truth flows through identity, graph, evidence, CHECK, human review and governance.</a:t>
            </a:r>
          </a:p>
        </p:txBody>
      </p:sp>
      <p:pic>
        <p:nvPicPr>
          <p:cNvPr id="4" name="Picture 3" descr="01_citybrain_produc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Architecture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CER first, graph second, evidence and governance always.</a:t>
            </a:r>
          </a:p>
        </p:txBody>
      </p:sp>
      <p:pic>
        <p:nvPicPr>
          <p:cNvPr id="4" name="Picture 3" descr="02_architecture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60120"/>
            <a:ext cx="8046720" cy="55723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What exists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Strong proof paths, but conservative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5778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Source records and data landing across several cities.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Canonical graph and evidence packet proofs.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Web cockpit, Omniverse/WebRTC and DeepStream/VSS local proof lanes.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CHECK/Authority/trace/no-action governance patterns.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rial"/>
              </a:defRPr>
            </a:pPr>
            <a:r>
              <a:t>One offline experimental forecast, frozen-replay only.</a:t>
            </a:r>
          </a:p>
        </p:txBody>
      </p:sp>
      <p:pic>
        <p:nvPicPr>
          <p:cNvPr id="5" name="Picture 4" descr="03_capability_matur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32484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What cannot be claimed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This honesty is a credibility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7607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Production live operations.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Public API / SLA.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Certified citywide digital twin.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Autonomous monitoring or dispatch.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Enforcement/legal/certified finding.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Official ticket/case/work-order creation.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Product forecast surface.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Live Watch consumption of a forecast model.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Cross-city learned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188720"/>
            <a:ext cx="45720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Trained ranking in operator surfaces.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Production-grade execution adapters.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  <a:latin typeface="Arial"/>
              </a:defRPr>
            </a:pPr>
            <a:r>
              <a:t>Official execution remains parked until authority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Product management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Different users see the same evidence chain through different lenses.</a:t>
            </a:r>
          </a:p>
        </p:txBody>
      </p:sp>
      <p:pic>
        <p:nvPicPr>
          <p:cNvPr id="4" name="Picture 3" descr="07_user_valu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51560"/>
            <a:ext cx="10607040" cy="60128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Component plug-in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The next value unlock is connecting existing proofs into one runtime.</a:t>
            </a:r>
          </a:p>
        </p:txBody>
      </p:sp>
      <p:pic>
        <p:nvPicPr>
          <p:cNvPr id="4" name="Picture 3" descr="05_component_plugi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241280" cy="6688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Gap priority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P0 gaps are trust foundation, not feature polish.</a:t>
            </a:r>
          </a:p>
        </p:txBody>
      </p:sp>
      <p:pic>
        <p:nvPicPr>
          <p:cNvPr id="4" name="Picture 3" descr="04_gap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914400"/>
            <a:ext cx="9326880" cy="61265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Synthetic and Dubai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Real where identity matters; synthetic where operational behavior is missing.</a:t>
            </a:r>
          </a:p>
        </p:txBody>
      </p:sp>
      <p:pic>
        <p:nvPicPr>
          <p:cNvPr id="4" name="Picture 3" descr="08_data_synthetic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241280" cy="60103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Scenario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One spine, many cartridges.</a:t>
            </a:r>
          </a:p>
        </p:txBody>
      </p:sp>
      <p:pic>
        <p:nvPicPr>
          <p:cNvPr id="4" name="Picture 3" descr="10_flow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960120"/>
            <a:ext cx="10058400" cy="59030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Consolidate trust foundation, then demo/pilot.</a:t>
            </a:r>
          </a:p>
        </p:txBody>
      </p:sp>
      <p:pic>
        <p:nvPicPr>
          <p:cNvPr id="4" name="Picture 3" descr="06_roadmap_next_90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972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Immediate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Make the picture real, testable and explainable.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2412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1F2937"/>
                </a:solidFill>
                <a:latin typeface="Arial"/>
              </a:defRPr>
            </a:pPr>
            <a:r>
              <a:t>Publish this pack as the single product room.</a:t>
            </a:r>
          </a:p>
          <a:p>
            <a:pPr>
              <a:spcAft>
                <a:spcPts val="500"/>
              </a:spcAft>
              <a:defRPr sz="2000">
                <a:solidFill>
                  <a:srgbClr val="1F2937"/>
                </a:solidFill>
                <a:latin typeface="Arial"/>
              </a:defRPr>
            </a:pPr>
            <a:r>
              <a:t>Build CHECK v1 and CER Engine R1.</a:t>
            </a:r>
          </a:p>
          <a:p>
            <a:pPr>
              <a:spcAft>
                <a:spcPts val="500"/>
              </a:spcAft>
              <a:defRPr sz="2000">
                <a:solidFill>
                  <a:srgbClr val="1F2937"/>
                </a:solidFill>
                <a:latin typeface="Arial"/>
              </a:defRPr>
            </a:pPr>
            <a:r>
              <a:t>Run first real operator sessions.</a:t>
            </a:r>
          </a:p>
          <a:p>
            <a:pPr>
              <a:spcAft>
                <a:spcPts val="500"/>
              </a:spcAft>
              <a:defRPr sz="2000">
                <a:solidFill>
                  <a:srgbClr val="1F2937"/>
                </a:solidFill>
                <a:latin typeface="Arial"/>
              </a:defRPr>
            </a:pPr>
            <a:r>
              <a:t>Finish local Event Fabric v1.</a:t>
            </a:r>
          </a:p>
          <a:p>
            <a:pPr>
              <a:spcAft>
                <a:spcPts val="500"/>
              </a:spcAft>
              <a:defRPr sz="2000">
                <a:solidFill>
                  <a:srgbClr val="1F2937"/>
                </a:solidFill>
                <a:latin typeface="Arial"/>
              </a:defRPr>
            </a:pPr>
            <a:r>
              <a:t>Build hero-neighbourhood twin with event overlays.</a:t>
            </a:r>
          </a:p>
          <a:p>
            <a:pPr>
              <a:spcAft>
                <a:spcPts val="500"/>
              </a:spcAft>
              <a:defRPr sz="2000">
                <a:solidFill>
                  <a:srgbClr val="1F2937"/>
                </a:solidFill>
                <a:latin typeface="Arial"/>
              </a:defRPr>
            </a:pPr>
            <a:r>
              <a:t>Package a client demo route with strict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F172A"/>
                </a:solidFill>
                <a:latin typeface="Arial"/>
              </a:defRPr>
            </a:pPr>
            <a:r>
              <a:t>Client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The safest, strongest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1F2937"/>
                </a:solidFill>
                <a:latin typeface="Arial"/>
              </a:defRPr>
            </a:pPr>
            <a:r>
              <a:t>CityBrain is a review-and-governance layer between messy city reality and eventual approved operations.</a:t>
            </a:r>
          </a:p>
          <a:p>
            <a:pPr>
              <a:spcAft>
                <a:spcPts val="500"/>
              </a:spcAft>
              <a:defRPr sz="2200">
                <a:solidFill>
                  <a:srgbClr val="1F2937"/>
                </a:solidFill>
                <a:latin typeface="Arial"/>
              </a:defRPr>
            </a:pPr>
            <a:r>
              <a:t>It helps humans know what happened, what matters, what can be claimed, what should be checked next and what is still forbidden.</a:t>
            </a:r>
          </a:p>
          <a:p>
            <a:pPr>
              <a:spcAft>
                <a:spcPts val="500"/>
              </a:spcAft>
              <a:defRPr sz="2200">
                <a:solidFill>
                  <a:srgbClr val="1F2937"/>
                </a:solidFill>
                <a:latin typeface="Arial"/>
              </a:defRPr>
            </a:pPr>
            <a:r>
              <a:t>The current product is trusted review, not autonomous command.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Arial"/>
              </a:defRPr>
            </a:pPr>
            <a:r>
              <a:t>CityBrain - governed review intelligence, not production command/control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